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097280"/>
            <a:ext cx="329184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9488"/>
                </a:solidFill>
                <a:latin typeface="Calibri"/>
              </a:defRPr>
            </a:pPr>
            <a:r>
              <a:t>NLP &amp; LOCAL LLM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00200"/>
            <a:ext cx="9235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Bhasha2Code</a:t>
            </a:r>
          </a:p>
          <a:p>
            <a:pPr>
              <a:spcBef>
                <a:spcPts val="400"/>
              </a:spcBef>
              <a:defRPr sz="1800">
                <a:solidFill>
                  <a:srgbClr val="0D9488"/>
                </a:solidFill>
                <a:latin typeface="Calibri"/>
              </a:defRPr>
            </a:pPr>
            <a:r>
              <a:t>A Multilingual AI Coding Assistant and Educational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9748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Bridging the Digital Linguistic Divide in Computer Science Education using Offline Natural Language Processing and Quantized Local LLMs.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474720"/>
            <a:ext cx="4389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61188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D9488"/>
                </a:solidFill>
              </a:defRPr>
            </a:pPr>
            <a:r>
              <a:t>STUDENT DETAILS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Name: Tejas Ingle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PRN: 72421415F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Department: Computer Engineering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Class &amp; Year: T.E. Computer (2025–2026)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474720"/>
            <a:ext cx="45720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611880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D9488"/>
                </a:solidFill>
              </a:defRPr>
            </a:pPr>
            <a:r>
              <a:t>GUIDE &amp; INSTITUTION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Project Guide: Prof. Gajanan Godage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College: Nutan Maharashtra Institute of Engg. &amp; Tech.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Location: Talegaon Dabhade, Pune – 410507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Affiliation: Savitribai Phule Pune University (SPPU)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Abstract &amp;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Project Abstract (Summary)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Bhasha2Code is an offline, privacy-preserving multilingual AI coding assistant engineered to eliminate the cognitive linguistic friction faced by non-native English engineering students.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By coupling a deterministic, offline Code-Mixed NLP Pipeline (Language, Intent, and Tone Classification) with a quantized local Large Language Model (Qwen2.5-Coder:1.5B via Ollama), the system accepts prompts in native and Romanized Marathi-English dialects.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</a:defRPr>
            </a:pPr>
            <a:r>
              <a:t>The platform enforces strict AST-level syntax verification and executes verified programs in an isolated, resource-capped Docker sandbox. An integrated educational 'Study Mode' automatically generates algorithmic walkthroughs, ASCII flowcharts, and viva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1. Cognitive Demarcation &amp; Input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Processes English, Marathi, Hindi, and transliterated code-mixed queries (e.g., 'Python madhye factorial kadha'). Translates unstructured linguistic intent into formal programming structures.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6324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200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2. Offline Local Inference &amp; Zero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Operates entirely on consumer-grade CPU hardware via Ollama without cloud dependencies, API billing ($0 recurring cost), or privacy risks.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66344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800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AST Verification &amp; Safe Sandboxing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66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Prevents hallucinated or malformed syntax through automated Python AST checking, and executes verified code in an isolated Docker sandbox.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PROJECT SCOPE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 &amp; Measurable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5912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B91C1C"/>
                </a:solidFill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Undergraduate engineering students who conceptualize computational logic in regional Indian languages (e.g., Marathi/Hindi) face severe cognitive friction when interacting with English-centric AI coding tools. Furthermore, commercial assistants mandate continuous high-speed internet, incur recurring subscription costs, raise proprietary code privacy concerns, and frequently output unverified syntax hallucinations without pedagogical explanations.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852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Objective 1: Multilingual Intent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47288"/>
            <a:ext cx="491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Engineer an offline NLP pipeline using TF-IDF and calibrated linear classifiers to identify conversational languages and 18 programming intents across English, Marathi, Hindi, and Romanized code-mixing with &gt;90% test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71800"/>
            <a:ext cx="52852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10896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Objective 2: Deterministic Prompt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447288"/>
            <a:ext cx="491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Formulate a policy-driven prompt engine that enforces the 'Code Preservation Mandate'—keeping programming syntax and keywords strictly in standard ASCII English while delivering explanations in the user's regional dialect.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52852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Objective 3: Quantized Local LLM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93208"/>
            <a:ext cx="491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Deploy quantized, open-weights models (Qwen2.5-Coder:1.5B/3B) locally via Ollama to achieve sub-15s response latency on standard consumer-grade CPU hardware with zero cloud API billing.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17720"/>
            <a:ext cx="528523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75488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Objective 4: AST Syntax Validation &amp; Docker 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093208"/>
            <a:ext cx="4919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Implement an automated Abstract Syntax Tree (AST) validation pipeline to intercept syntax hallucinations, coupled with a resource-capped Docker container sandbox (512MB RAM, no network) for safe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THEORETICAL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Literature Survey &amp;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2194560"/>
                <a:gridCol w="2286000"/>
                <a:gridCol w="2221992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Citation &amp; Author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Title &amp; 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Limitation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[1] M. Chen et al.</a:t>
                      </a:r>
                      <a:br/>
                      <a:r>
                        <a:t>(OpenAI, 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Evaluating Large Language Models Trained on Code</a:t>
                      </a:r>
                      <a:br/>
                      <a:r>
                        <a:t>(Codex / HumanEval)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Fine-tuning GPT models on GitHub code repositories; introduces HumanEval benchmark.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Established functional correctness benchmark (pass@k) for AI code generation.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English-only prompt assumptions; requires massive cloud infrastructure; black-box API.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[2] B. Hui et al.</a:t>
                      </a:r>
                      <a:br/>
                      <a:r>
                        <a:t>(Alibaba, 2024)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Qwen2.5-Coder Technical Report: Advancing Code LLMs</a:t>
                      </a:r>
                      <a:br/>
                      <a:r>
                        <a:t>(arXiv:2409.12186)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Pre-training on 5.5T tokens with synthetic data and fill-in-the-middle tasks (1.5B to 32B).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State-of-the-art open-source coding performance in compact model sizes (1.5B/3B).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Lacks domain-specific prompt wrappers for Indian dialects; no built-in sandbox validation.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[3] T. Tiwary &amp; P. Kumar</a:t>
                      </a:r>
                      <a:br/>
                      <a:r>
                        <a:t>(ACM,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Code-Mixing &amp; Transliteration Challenges in Indian NLP</a:t>
                      </a:r>
                      <a:br/>
                      <a:r>
                        <a:t>(ACM TALIP)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Survey of linguistic tokenization and transliteration across Devanagari and Latin scripts.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Categorized matrix-language frame and phonetic ambiguities in Hindi/Marathi code-mixing.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Focused on social text and sentiment analysis; did not address programming intent synthesis.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[4] F. Pedregosa et al.</a:t>
                      </a:r>
                      <a:br/>
                      <a:r>
                        <a:t>(JMLR, 2011)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Scikit-learn: Machine Learning in Python</a:t>
                      </a:r>
                      <a:br/>
                      <a:r>
                        <a:t>(JMLR Vol. 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Efficient implementations of TF-IDF feature extraction, LinearSVC, and Logistic Regression.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Provided robust, sub-millisecond offline classification suitable for embedded execution.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manual feature engineering and curated domain lexicons for code-mixed text.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Summary: While commercial models [1, 2] excel at English-to-code synthesis, they lack offline localized intent classifiers [3, 4] tailored for bilingual engineering students.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SYSTEM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Research Gap &amp; Novel Implementation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Existing Limitations (The Research Gap)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B91C1C"/>
                </a:solidFill>
              </a:defRPr>
            </a:pPr>
            <a:r>
              <a:t>• English Linguistic Monoculture: </a:t>
            </a:r>
            <a:r>
              <a:rPr b="0" sz="1000">
                <a:solidFill>
                  <a:srgbClr val="334155"/>
                </a:solidFill>
              </a:rPr>
              <a:t>Tools like GitHub Copilot and ChatGPT rely on formal English technical phrasing. Prompts in phonetic/Romanized Marathi (e.g., 'don number add karaycha code de') suffer from degradation or misinterpretation.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B91C1C"/>
                </a:solidFill>
              </a:defRPr>
            </a:pPr>
            <a:r>
              <a:t>• Cloud Dependency &amp; Operational Cost: </a:t>
            </a:r>
            <a:r>
              <a:rPr b="0" sz="1000">
                <a:solidFill>
                  <a:srgbClr val="334155"/>
                </a:solidFill>
              </a:rPr>
              <a:t>Proprietary APIs impose recurring per-token charges or monthly fees ($20/mo), preventing deployment in air-gapped college labs with limited connectivity.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B91C1C"/>
                </a:solidFill>
              </a:defRPr>
            </a:pPr>
            <a:r>
              <a:t>• Unchecked Code Hallucination: </a:t>
            </a:r>
            <a:r>
              <a:rPr b="0" sz="1000">
                <a:solidFill>
                  <a:srgbClr val="334155"/>
                </a:solidFill>
              </a:rPr>
              <a:t>Existing generative models provide code snippets without verifying syntactic compilation integrity, often outputting truncated blocks or syntax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2920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B91C1C"/>
                </a:solidFill>
              </a:defRPr>
            </a:pPr>
            <a:r>
              <a:t>• Lack of Pedagogical Scaffolding: </a:t>
            </a:r>
            <a:r>
              <a:rPr b="0" sz="1000">
                <a:solidFill>
                  <a:srgbClr val="334155"/>
                </a:solidFill>
              </a:rPr>
              <a:t>Commercial tools are developer-oriented, outputting bare code without explaining control flow, algorithm steps, or viva preparation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Bhasha2Code Architectural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D9488"/>
                </a:solidFill>
              </a:defRPr>
            </a:pPr>
            <a:r>
              <a:t>✓ Offline Code-Mixed NLP Pipeline: </a:t>
            </a:r>
            <a:r>
              <a:rPr b="0" sz="1000">
                <a:solidFill>
                  <a:srgbClr val="334155"/>
                </a:solidFill>
              </a:rPr>
              <a:t>Integrated sub-word N-gram and TF-IDF classifiers trained on bilingual prompts to map Marathi-English requests directly to standard programming intents.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D9488"/>
                </a:solidFill>
              </a:defRPr>
            </a:pPr>
            <a:r>
              <a:t>✓ Zero-Cost Local Quantized LLM: </a:t>
            </a:r>
            <a:r>
              <a:rPr b="0" sz="1000">
                <a:solidFill>
                  <a:srgbClr val="334155"/>
                </a:solidFill>
              </a:rPr>
              <a:t>Deployed Qwen2.5-Coder:1.5B locally via Ollama. Yields ~16.5 tok/s on consumer CPU with 100% data privacy and zero API expenses.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D9488"/>
                </a:solidFill>
              </a:defRPr>
            </a:pPr>
            <a:r>
              <a:t>✓ AST Validation &amp; Syntax Safeguards: </a:t>
            </a:r>
            <a:r>
              <a:rPr b="0" sz="1000">
                <a:solidFill>
                  <a:srgbClr val="334155"/>
                </a:solidFill>
              </a:rPr>
              <a:t>Automated Python AST parsing and compiler validation catches incomplete or broken code blocks before rendering to the student.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0292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D9488"/>
                </a:solidFill>
              </a:defRPr>
            </a:pPr>
            <a:r>
              <a:t>✓ Pedagogical 'Study Mode': </a:t>
            </a:r>
            <a:r>
              <a:rPr b="0" sz="1000">
                <a:solidFill>
                  <a:srgbClr val="334155"/>
                </a:solidFill>
              </a:rPr>
              <a:t>A dedicated mode that transforms code requests into structured educational artifacts: Problem Breakdown, Algorithm, ASCII Flowchart, and 5 Viva Q&amp;As.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SYSTEM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Proposed System &amp; Functional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1. Code-Mixed Multilingual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Accepts conversational queries in English, Devanagari Marathi/Hindi, and Romanized Marathi-English transliterations without requiring manual 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2. Dual Pedagogical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Normal Mode provides direct executable code; Study Mode unpacks concepts with Problem Breakdown, Step-by-Step Algorithm, Flowchart, and Viva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AST-Level Syntax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Extracts code blocks and compiles them via Python AST / syntax checkers. Badges code as 'Validated' or flags incomplete generation in real-time.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4. Isolated Docker Sandbox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Executes verified Python, C++, Java, and JS code inside an ephemeral Docker container capped at 512MB RAM, 1 CPU core, and disabled network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93192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5. Multi-Turn Contextual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348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Maintains conversational sessions using SQLite; distinguishes brand-new programs from follow-up modifications (e.g., 'add error handling').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6. Production-Ready REST &amp; SSE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348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FastAPI backend delivers real-time token streaming via Server-Sent Events (SSE) and full OpenAPI/Swagger documentation at /docs.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 &amp;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963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1. Presentation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Client Web UI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React 18 + Vite SPA</a:t>
            </a:r>
            <a:br/>
            <a:r>
              <a:t>Tailwind CSS Styling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3756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Chat Stream Component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Server-Sent Events (SSE)</a:t>
            </a:r>
            <a:br/>
            <a:r>
              <a:t>Real-time Token Renderer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66344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7316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Monaco/Prism Editor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Validated Code Viewer &amp;</a:t>
            </a:r>
            <a:br/>
            <a:r>
              <a:t>Interactive Run Console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463040"/>
            <a:ext cx="24963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60020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2. NLP &amp; API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01168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12140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FastAPI Backend Core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Async REST &amp; SSE Routers</a:t>
            </a:r>
            <a:br/>
            <a:r>
              <a:t>Pydantic v2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337560"/>
            <a:ext cx="2221992" cy="11887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44728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Unified NLP Pipeline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Unicode NFC Preprocessor</a:t>
            </a:r>
            <a:br/>
            <a:r>
              <a:t>• Language Detection</a:t>
            </a:r>
            <a:br/>
            <a:r>
              <a:t>• Intent (18) &amp; Tone (4)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466344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77316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Context &amp; Prompt Engine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Multi-turn Memory Window</a:t>
            </a:r>
            <a:br/>
            <a:r>
              <a:t>Code Preservation Policies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24963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60020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Local Inference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01168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12140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Ollama Local Daemon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Host: 127.0.0.1:11434</a:t>
            </a:r>
            <a:br/>
            <a:r>
              <a:t>REST /api/generate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337560"/>
            <a:ext cx="2221992" cy="11887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4728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Active Quantized LLM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Qwen2.5-Coder:1.5B</a:t>
            </a:r>
            <a:br/>
            <a:r>
              <a:t>(986 MB GGUF Quantized)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66344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7316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Streaming Generation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Deterministic Sampling</a:t>
            </a:r>
            <a:br/>
            <a:r>
              <a:t>Temperature: 0.2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463040"/>
            <a:ext cx="24963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1600200"/>
            <a:ext cx="2130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4. Validation &amp; Sandbox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201168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212140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AST Validator Engine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Python AST &amp; Code Extractor</a:t>
            </a:r>
            <a:br/>
            <a:r>
              <a:t>Suppresses Incomplete Fences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337560"/>
            <a:ext cx="2221992" cy="11887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44728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Docker Sandbox Runner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Container: b2c-run</a:t>
            </a:r>
            <a:br/>
            <a:r>
              <a:t>512MB RAM, No Network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663440"/>
            <a:ext cx="222199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773168"/>
            <a:ext cx="20391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Persistent Storage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SQLite 3 Engine</a:t>
            </a:r>
            <a:br/>
            <a:r>
              <a:t>Sessions, Codes &amp; Messages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246120" y="246888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3246120" y="384048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3246120" y="512064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5989320" y="246888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5989320" y="384048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5989320" y="512064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8732520" y="246888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8732520" y="384048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8732520" y="5120640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CORE NLP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NLP Methodology &amp; Classification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1: Text Preprocessing &amp; Code Splitting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Unicode NFC Normalization: Harmonizes composite Devanagari and Latin glyphs.</a:t>
            </a:r>
            <a:br/>
            <a:r>
              <a:t>• Code Demarcation: Strips pre-existing code blocks from natural language query using regex pattern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2: Bilingual Language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01952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Script Analysis: Evaluates Devanagari vs. Latin character ratios.</a:t>
            </a:r>
            <a:br/>
            <a:r>
              <a:t>• Sub-Word N-Grams: Identifies Romanized Marathi/Hindi phonetic patterns (e.g., words ending in '-cha', '-la', '-sathi').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3: Intent &amp; Tone Feature Extraction (TF-IDF)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Feature Union: Combines Word N-Grams (1, 2) and Character N-Grams (3, 5).</a:t>
            </a:r>
            <a:br/>
            <a:r>
              <a:t>• Sublinear TF Scaling: Suppresses noisy repeated keywords; builds a 496-dimensional sparse feature representation.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08960"/>
            <a:ext cx="52852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4: Multi-Class Linear Model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47872"/>
            <a:ext cx="49194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Classifier: Calibrated Multi-Class Logistic Regression with balanced weighting.</a:t>
            </a:r>
            <a:br/>
            <a:r>
              <a:t>• 18 Intent Classes: GENERATE_CODE, DEBUG_CODE, EXPLAIN_CONCEPT, OPTIMIZE_CODE, etc.</a:t>
            </a:r>
            <a:br/>
            <a:r>
              <a:t>• 4 Tone Classes: CASUAL, SHORT, FORMAL, ACADEMIC.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72591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5: Deterministic Prompt Synthesis (The Policy Engine)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48072"/>
            <a:ext cx="103601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Code Preservation Mandate: System enforces standard ASCII English programming syntax (def, class, for) while natural language commentary follows the detected regional dialect (Marathi-English).</a:t>
            </a:r>
            <a:br/>
            <a:r>
              <a:t>• Injection Safeguard: Historical turns and code comments treated strictly as passive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Technology Stack &amp; Implementation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3931920"/>
                <a:gridCol w="2587752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 /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 Role &amp; Functionality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Artifact / Location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React 18 + Vite + Tailwind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Responsive SPA with SSE streaming, Monaco/Prism code editor, and Study Mode UI toggles.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frontend/src/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Backend Web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FastAPI (Python 3.11)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Asynchronous ASGI server handling /api/v1/chat, streaming responses, and OpenAPI docs.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backend/app/main.py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NLP &amp;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scikit-learn + 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TF-IDF feature extraction and calibrated multi-class Logistic Regression classifiers.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backend/app/nlp/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Local LLM Daemon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Ollama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Local daemon managing quantized weights (Qwen2.5-Coder:1.5B - 986MB) on 127.0.0.1:11434.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backend/app/llm/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Validation &amp; 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ast &amp; Regex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Syntactic parsing, unclosed code block suppression, and compiler linting.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backend/app/validation/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Isolated Sandbox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Docker Engine (Alpine)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Ephemeral container execution with 512MB RAM cap, 1 CPU limit, and disabled network.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backend/app/sandbox/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72591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D9488"/>
                </a:solidFill>
              </a:defRPr>
            </a:pPr>
            <a:r>
              <a:t>Execution Flow: </a:t>
            </a:r>
            <a:r>
              <a:rPr b="0" sz="950">
                <a:solidFill>
                  <a:srgbClr val="334155"/>
                </a:solidFill>
              </a:rPr>
              <a:t>User Input (React) → FastAPI Router → NLP Preprocessor → Intent/Tone Classifier → Prompt Builder → Ollama Token Stream → AST Syntax Validation → Docker Sandbox Run → Client Terminal.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Experimental Results, KPIs &amp; System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Confusion Matrix (18 Intent Classes)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4846320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463040"/>
            <a:ext cx="54223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Verified Performance Indicators (KPIs)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D9488"/>
                </a:solidFill>
              </a:defRPr>
            </a:pPr>
            <a:r>
              <a:t>NLP Model Evaluation (162 Real Test Samples):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Test Accuracy: 92.59% (150/162 samples correctly classified)</a:t>
            </a:r>
            <a:br/>
            <a:r>
              <a:t>• Macro Precision: 0.9301 | Macro Recall: 0.9259</a:t>
            </a:r>
            <a:br/>
            <a:r>
              <a:t>• Macro F1-Score: 0.9239 (Evaluated on intent_test.csv)</a:t>
            </a:r>
          </a:p>
          <a:p>
            <a:pPr>
              <a:spcBef>
                <a:spcPts val="600"/>
              </a:spcBef>
              <a:defRPr b="1" sz="1100">
                <a:solidFill>
                  <a:srgbClr val="0D9488"/>
                </a:solidFill>
              </a:defRPr>
            </a:pPr>
            <a:r>
              <a:t>CPU Inference Throughput (Intel Core i7 / 16GB RAM):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Qwen2.5-Coder:1.5B: ~16.54 tokens/sec | Latency: 12–15s</a:t>
            </a:r>
            <a:br/>
            <a:r>
              <a:t>• Qwen2.5-Coder:3B: ~7.20 tokens/sec | Latency: 50–75s</a:t>
            </a:r>
            <a:br/>
            <a:r>
              <a:t>• Conclusion: 1.5B delivers 2.3x speedup on local CPU hardware.</a:t>
            </a:r>
          </a:p>
          <a:p>
            <a:pPr>
              <a:spcBef>
                <a:spcPts val="600"/>
              </a:spcBef>
              <a:defRPr b="1" sz="1100">
                <a:solidFill>
                  <a:srgbClr val="0D9488"/>
                </a:solidFill>
              </a:defRPr>
            </a:pPr>
            <a:r>
              <a:t>Syntactic &amp; Code Validity Rate: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93.2% of generated Python programs passed AST parsing without syntax errors.</a:t>
            </a:r>
            <a:br/>
            <a:r>
              <a:t>• Zero false-positive truncation warnings on closed code blocks.</a:t>
            </a:r>
          </a:p>
          <a:p>
            <a:pPr>
              <a:spcBef>
                <a:spcPts val="600"/>
              </a:spcBef>
              <a:defRPr b="1" sz="1100">
                <a:solidFill>
                  <a:srgbClr val="0D9488"/>
                </a:solidFill>
              </a:defRPr>
            </a:pPr>
            <a:r>
              <a:t>Software Test Suite Coverage: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Backend Tests: 490 / 490 tests passing (100% pass rate via pytest)</a:t>
            </a:r>
            <a:br/>
            <a:r>
              <a:t>• Frontend Tests: 15 / 15 tests passing (100% pass rate via vitest)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Conclusion, 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07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Project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449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Successfully engineered Bhasha2Code, proving that compact localized NLP pipelines combined with quantized open-weights LLMs can eliminate the linguistic barrier in computer science education.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Solved key commercial limitations: achieved $0 recurring operating cost, 100% offline air-gapped usability, zero data leakage, and automated AST code validation.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Study Mode successfully enhances conceptual learning by coupling executable code with algorithms, ASCII flowcharts, and automated viva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107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Current System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449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CPU Inference Latency: Generation on local CPU requires 12–15 seconds, slower than high-end cloud GPU clusters.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Context Window Budget: Limited to 8,192 tokens by Ollama hardware constraints, requiring sliding-window conversation pruning.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Dialect Breadth: Current lexical resources specifically target Marathi, Hindi, and English; southern Indic languages are not yet modeled.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107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449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Practical 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449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• Speech-to-Code: Integrating open-source acoustic models (Whisper / AI4Bharat Bhashini) for direct voice coding in regional languages.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Multi-Language Expansion: Expanding NLP lexicons and synthetic corpora to Gujarati, Tamil, Telugu, and Kannada.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Interactive Visual Debugger: Integrating step-by-step variable inspection and algorithm animation for data structure teaching.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Verified Academic &amp; Technical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IEEE References &amp; Official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[1] M. Chen, J. Tworek, H. Jun, et al., "Evaluating Large Language Models Trained on Code," arXiv preprint arXiv:2107.03374, OpenAI, 2021. Available: https://doi.org/10.48550/arXiv.2107.03374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[2] B. Hui, J. Yang, Z. Cui, et al., "Qwen2.5-Coder Technical Report: Advancing Code LLMs for Real-World Applications," arXiv preprint arXiv:2409.12186, Alibaba Group, 2024. Available: https://doi.org/10.48550/arXiv.2409.12186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[3] T. Tiwary and P. Kumar, "Code-Mixing and Transliteration Challenges in Indian NLP: A Survey," ACM Transactions on Asian and Low-Resource Language Information Processing, vol. 21, no. 5, pp. 1–28, 2022. Available: https://doi.org/10.1145/3543852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[4] F. Pedregosa, G. Varoquaux, A. Gramfort, et al., "Scikit-learn: Machine Learning in Python," Journal of Machine Learning Research (JMLR), vol. 12, pp. 2825–2830, 2011. Available: https://jmlr.org/papers/v12/pedregosa11a.html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[5] FastAPI &amp; Pydantic Developers, "FastAPI Framework and Asynchronous Web API Design Documentation," 2024. [Online]. Available: https://fastapi.tiangolo.com/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[6] Ollama Project Authors, "Ollama: Get up and running with large language models locally," 2024. [Online]. Available: https://github.com/ollama/ollama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[7] Docker Inc., "Docker Engine Security and Resource Constraint Specification," 2024. [Online]. Available: https://docs.docker.com/engine/security/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NMIET, Talegaon, Pune | Department of Computer Engineering | Bhasha2Code (2025–26)            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